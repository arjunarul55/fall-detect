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F2942"/>
                </a:solidFill>
                <a:latin typeface="Calibri"/>
              </a:defRPr>
            </a:pPr>
            <a:r>
              <a:t>DEPARTMENT OF INFORMATION TECHNOLOGY</a:t>
            </a:r>
          </a:p>
          <a:p>
            <a:pPr algn="ctr">
              <a:defRPr sz="1500" b="1">
                <a:solidFill>
                  <a:srgbClr val="1E40AF"/>
                </a:solidFill>
                <a:latin typeface="Calibri"/>
              </a:defRPr>
            </a:pPr>
            <a:r>
              <a:t>MADRAS INSTITUTE OF TECHNOLOGY, ANNA UNIVERSITY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937760" y="1828800"/>
            <a:ext cx="2286000" cy="4114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2942"/>
                </a:solidFill>
                <a:latin typeface="Calibri"/>
              </a:defRPr>
            </a:pPr>
            <a:r>
              <a:t>THIRD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317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75569"/>
                </a:solidFill>
                <a:latin typeface="Calibri"/>
              </a:defRPr>
            </a:pPr>
            <a:r>
              <a:t>IT5712 - PROJECT 1   |   ACADEMIC YEAR: 2023 - 2027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103628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defRPr sz="2500" b="1">
                <a:solidFill>
                  <a:srgbClr val="0F2942"/>
                </a:solidFill>
                <a:latin typeface="Calibri"/>
              </a:defRPr>
            </a:pPr>
            <a:r>
              <a:t>Wearable Fall Detection and Severity Classification</a:t>
            </a:r>
            <a:br/>
            <a:r>
              <a:t>System for Elderly People Using Deep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4297680"/>
            <a:ext cx="7619695" cy="22860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71600" y="4572000"/>
            <a:ext cx="4389120" cy="173736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8760" y="4681728"/>
            <a:ext cx="4114800" cy="1517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50" b="1">
                <a:solidFill>
                  <a:srgbClr val="0F2942"/>
                </a:solidFill>
                <a:latin typeface="Calibri"/>
              </a:defRPr>
            </a:pPr>
            <a:r>
              <a:t>TEAM MEMBERS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- 1. Sarath R (2023506065)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- 2. Ajay Kumar S (2023506105)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- 3. Arjun A (2023506063)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- 4. Kris Virshak (2023506124)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4572000"/>
            <a:ext cx="4389120" cy="173736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4681728"/>
            <a:ext cx="4114800" cy="1517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50" b="1">
                <a:solidFill>
                  <a:srgbClr val="0F2942"/>
                </a:solidFill>
                <a:latin typeface="Calibri"/>
              </a:defRPr>
            </a:pPr>
            <a:r>
              <a:t>GUIDED BY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Dr. S. Umamaheswari,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Associate Professor,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Department of Information Technology,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Madras Institute of Technology, Anna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942"/>
                </a:solidFill>
                <a:latin typeface="Calibri"/>
              </a:defRPr>
            </a:pPr>
            <a:r>
              <a:t>Review 3 Scope and Key Deliverables</a:t>
            </a:r>
          </a:p>
          <a:p>
            <a:pPr>
              <a:defRPr sz="1150">
                <a:solidFill>
                  <a:srgbClr val="475569"/>
                </a:solidFill>
                <a:latin typeface="Calibri"/>
              </a:defRPr>
            </a:pPr>
            <a:r>
              <a:t>Transition from Review 2 prototype components to fully deployed, verified end-to-end edge architecture.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192024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72768"/>
            <a:ext cx="4937760" cy="1700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50" b="1">
                <a:solidFill>
                  <a:srgbClr val="0F2942"/>
                </a:solidFill>
                <a:latin typeface="Calibri"/>
              </a:defRPr>
            </a:pPr>
            <a:r>
              <a:t>1. Multi-Task Fall &amp; Severity Deep Learning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Unified deep CNN-LSTM backbone trained end-to-end directly on raw IMU windows.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Dual-head architecture: Binary Sigmoid (Fall vs ADL) + Softmax (Mild vs Severe).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Custom Masked Loss excludes non-fall ADLs and sensor outliers from severity gradients.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Severity Macro-F1 = 0.8660 (Mild: 0.8346, Severe: 0.8973; 0.9020 recording-level).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192024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572768"/>
            <a:ext cx="4937760" cy="1700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50" b="1">
                <a:solidFill>
                  <a:srgbClr val="0F2942"/>
                </a:solidFill>
                <a:latin typeface="Calibri"/>
              </a:defRPr>
            </a:pPr>
            <a:r>
              <a:t>2. Strict Operating Threshold Policy (Decision D2)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Shifted from arbitrary 0.50 threshold to rigorous validation-selected operating rule.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Threshold selected strictly on validation split to maximize F2, frozen to test.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Selected threshold 0.25 on CNN-LSTM reduces missed falls by 33% (9 to 6).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High test sensitivity: 0.9950 recall and 0.9879 F2 with 17.74 false alarms/hour.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5212080" cy="192024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675887"/>
            <a:ext cx="4937760" cy="1700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50" b="1">
                <a:solidFill>
                  <a:srgbClr val="0F2942"/>
                </a:solidFill>
                <a:latin typeface="Calibri"/>
              </a:defRPr>
            </a:pPr>
            <a:r>
              <a:t>3. Edge Quantization &amp; Microcontroller C Export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Evaluated 4 TFLite variants: Float32, Dynamic-Range, Float16, Full-Integer INT8.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Dynamic-Range chosen via strict gating: 111.0 KB (2.12x comp), 0.000 F2/recall drop.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Single-window latency: 0.026 ms on 1 thread (enables &gt;1,000x real-time speed).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Exported C byte array header (model_data.h) for direct ESP32 firmware integration.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566160"/>
            <a:ext cx="5212080" cy="192024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3675887"/>
            <a:ext cx="4937760" cy="1700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50" b="1">
                <a:solidFill>
                  <a:srgbClr val="0F2942"/>
                </a:solidFill>
                <a:latin typeface="Calibri"/>
              </a:defRPr>
            </a:pPr>
            <a:r>
              <a:t>4. Real-Time Streaming Engine &amp; Caregiver UI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- 64-sample circular ring buffer @ 20 Hz, evaluating every 16 samples (0.8 s latency).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Multi-stage noise filtering: N-consecutive positive windows + 10.0 s alert cooldown.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Bitwise mathematical parity verified: max abs diff &lt;= 1e-6 vs offline TFLite.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Interactive Streamlit dashboard (app/demo.py) with real-time audio-visual alerts.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623560"/>
            <a:ext cx="10728655" cy="64008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047857"/>
                </a:solidFill>
                <a:latin typeface="Calibri"/>
              </a:defRPr>
            </a:pPr>
            <a:r>
              <a:t>Dataset: 84,123 Windows   |   Edge Model: 111.0 KB (TFLite)   |   Test Recall: 0.9950   |   Severity Macro-F1: 0.8660   |   Test Suite: 54/54 Passed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Review 3 | Wearable Fall Detection &amp; Severity System | MIT Anna University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>
                <a:solidFill>
                  <a:srgbClr val="475569"/>
                </a:solidFill>
                <a:latin typeface="Calibri"/>
              </a:defRPr>
            </a:pPr>
            <a: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942"/>
                </a:solidFill>
                <a:latin typeface="Calibri"/>
              </a:defRPr>
            </a:pPr>
            <a:r>
              <a:t>Updated End-to-End System Architecture</a:t>
            </a:r>
          </a:p>
          <a:p>
            <a:pPr>
              <a:defRPr sz="1150">
                <a:solidFill>
                  <a:srgbClr val="475569"/>
                </a:solidFill>
                <a:latin typeface="Calibri"/>
              </a:defRPr>
            </a:pPr>
            <a:r>
              <a:t>Complete deployed pipeline from raw 6-axis wearable motion data to real-time caregiver alerts.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view3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728655" cy="32918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4800600"/>
            <a:ext cx="3429000" cy="146304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910328"/>
            <a:ext cx="3154680" cy="1243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50" b="1">
                <a:solidFill>
                  <a:srgbClr val="0F2942"/>
                </a:solidFill>
                <a:latin typeface="Calibri"/>
              </a:defRPr>
            </a:pPr>
            <a:r>
              <a:t>Signal Conditioning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- 6 retained channels: acc1_x/y/z, gyro_x/y/z.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Butterworth 5 Hz LPF removes tremor noise.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- 200 Hz -&gt; 20 Hz decimation (10x reduction).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StandardScaler fit exclusively on train split.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4800600"/>
            <a:ext cx="3429000" cy="146304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4910328"/>
            <a:ext cx="3154680" cy="1243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50" b="1">
                <a:solidFill>
                  <a:srgbClr val="0F2942"/>
                </a:solidFill>
                <a:latin typeface="Calibri"/>
              </a:defRPr>
            </a:pPr>
            <a:r>
              <a:t>Deep Multi-Task Backbone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Sliding window: 64 samples (3.2 s), 75% overlap.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- 2 Conv1D blocks extract spatial transients.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Unrolled LSTM (64 units) models sequence.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Dual heads output fall prob &amp; K=2 severity.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4800600"/>
            <a:ext cx="3413455" cy="146304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4910328"/>
            <a:ext cx="3139135" cy="1243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50" b="1">
                <a:solidFill>
                  <a:srgbClr val="0F2942"/>
                </a:solidFill>
                <a:latin typeface="Calibri"/>
              </a:defRPr>
            </a:pPr>
            <a:r>
              <a:t>Edge Deployment &amp; Alert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Dynamic-range quantized TFLite (111.0 KB).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Ring buffer evaluates every 16 samples (0.8 s).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Cooldown timer prevents repetitive alert spam.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SimulatedCaregiverSink logs alert dispatch.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Review 3 | Wearable Fall Detection &amp; Severity System | MIT Anna University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>
                <a:solidFill>
                  <a:srgbClr val="475569"/>
                </a:solidFill>
                <a:latin typeface="Calibri"/>
              </a:defRPr>
            </a:pPr>
            <a: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942"/>
                </a:solidFill>
                <a:latin typeface="Calibri"/>
              </a:defRPr>
            </a:pPr>
            <a:r>
              <a:t>Dataset Partitioning &amp; Preprocessing Rigor</a:t>
            </a:r>
          </a:p>
          <a:p>
            <a:pPr>
              <a:defRPr sz="1150">
                <a:solidFill>
                  <a:srgbClr val="475569"/>
                </a:solidFill>
                <a:latin typeface="Calibri"/>
              </a:defRPr>
            </a:pPr>
            <a:r>
              <a:t>SisFall subject-wise split ensuring zero participant leakage and standardized signal conditioning.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17320"/>
          <a:ext cx="566928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1005840"/>
                <a:gridCol w="1005840"/>
                <a:gridCol w="914400"/>
                <a:gridCol w="914400"/>
              </a:tblGrid>
              <a:tr h="32918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Split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Subjects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Recordings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Windows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ADL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Fall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Train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2,942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55,423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50,939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4,484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15,073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13,573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Test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734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13,627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12,427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1,200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4,505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84,123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76,939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7,184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3291840"/>
          <a:ext cx="56692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4747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 / Design Decision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Original Sampling Rate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200 Hz (from SisFall DAQ)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Downsampled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20 Hz (efficient edge processing)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Digital Filter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Butterworth Low-Pass, 2nd order, 5 Hz cutoff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Retained Channels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 (acc1_x/y/z, gyro_x/y/z)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Dropped Channels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 (redundant second accelerometer acc2)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Standardization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StandardScaler (mean/std fit on train split 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Window / Stride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64 samples (3.2 s), stride 16 (0.8 s, 75% overlap)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class_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17320"/>
            <a:ext cx="4754880" cy="2926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675120" y="4526280"/>
            <a:ext cx="4754880" cy="169164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12280" y="4636008"/>
            <a:ext cx="4480560" cy="1472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50" b="1">
                <a:solidFill>
                  <a:srgbClr val="0F2942"/>
                </a:solidFill>
                <a:latin typeface="Calibri"/>
              </a:defRPr>
            </a:pPr>
            <a:r>
              <a:t>Dataset Integrity Highlights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Strict 26 / 6 / 6 subject-wise split (Decision D3).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Zero subject overlap between training and evaluation.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Extreme imbalance handled naturally (91.5% ADL vs 8.5% Fall).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Training balance: Offline class-weighting and balanced sampling.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All test evaluations conducted on unseen subjects.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Review 3 | Wearable Fall Detection &amp; Severity System | MIT Anna 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>
                <a:solidFill>
                  <a:srgbClr val="475569"/>
                </a:solidFill>
                <a:latin typeface="Calibri"/>
              </a:defRPr>
            </a:pPr>
            <a: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942"/>
                </a:solidFill>
                <a:latin typeface="Calibri"/>
              </a:defRPr>
            </a:pPr>
            <a:r>
              <a:t>Impact-Centered Windowing &amp; Fall Signal Dynamics</a:t>
            </a:r>
          </a:p>
          <a:p>
            <a:pPr>
              <a:defRPr sz="1150">
                <a:solidFill>
                  <a:srgbClr val="475569"/>
                </a:solidFill>
                <a:latin typeface="Calibri"/>
              </a:defRPr>
            </a:pPr>
            <a:r>
              <a:t>Formulating 3.2 s window boundaries centered on peak impact to separate falls from ordinary activities.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reprocessing_windowing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5212080" cy="2377440"/>
          </a:xfrm>
          <a:prstGeom prst="rect">
            <a:avLst/>
          </a:prstGeom>
        </p:spPr>
      </p:pic>
      <p:pic>
        <p:nvPicPr>
          <p:cNvPr id="5" name="Picture 4" descr="sample_waveforms_fall_vs_ad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17320"/>
            <a:ext cx="5212080" cy="23774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3977639"/>
            <a:ext cx="5212080" cy="224028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087368"/>
            <a:ext cx="4937760" cy="2020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50" b="1">
                <a:solidFill>
                  <a:srgbClr val="0F2942"/>
                </a:solidFill>
                <a:latin typeface="Calibri"/>
              </a:defRPr>
            </a:pPr>
            <a:r>
              <a:t>Impact-Centered Fall Labeling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Signal Magnitude Vector: SMV(t) = sqrt(ax^2 + ay^2 + az^2).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Peak Impact Detection: The instant of maximum acceleration in each fall trial serves as the anchor point.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Impact Window Labeling: Only windows overlapping the peak impact point are labeled as positive fall (label=1).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Background Rejection: Pre-fall gait instability and post-fall motionless periods are preserved as background.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Overlap Strategy: 75% overlap (16-sample stride) ensures impacts near window boundaries are never missed.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77639"/>
            <a:ext cx="5212080" cy="224028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4087368"/>
            <a:ext cx="4937760" cy="2020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50" b="1">
                <a:solidFill>
                  <a:srgbClr val="0F2942"/>
                </a:solidFill>
                <a:latin typeface="Calibri"/>
              </a:defRPr>
            </a:pPr>
            <a:r>
              <a:t>Observed Kinematic Characteristics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Impulsive Acceleration Spikes: Falls produce sharp acceleration transients (&gt;11g in SisFall) during floor impact.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Rotational Kinematics: Rapid angular velocity surges (&gt;300 deg/s) accompany loss of balance prior to collision.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ADL Regularity: Walking, sitting, and transitions exhibit periodic, low-amplitude oscillations (peak SMV &lt; 2.0g).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Dynamic Contrast: The temporal CNN-LSTM architecture captures both local impact shock and pre/post temporal context.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Review 3 | Wearable Fall Detection &amp; Severity System | MIT Anna University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>
                <a:solidFill>
                  <a:srgbClr val="475569"/>
                </a:solidFill>
                <a:latin typeface="Calibri"/>
              </a:defRPr>
            </a:pPr>
            <a: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942"/>
                </a:solidFill>
                <a:latin typeface="Calibri"/>
              </a:defRPr>
            </a:pPr>
            <a:r>
              <a:t>Multi-Task CNN-LSTM Model Architecture</a:t>
            </a:r>
          </a:p>
          <a:p>
            <a:pPr>
              <a:defRPr sz="1150">
                <a:solidFill>
                  <a:srgbClr val="475569"/>
                </a:solidFill>
                <a:latin typeface="Calibri"/>
              </a:defRPr>
            </a:pPr>
            <a:r>
              <a:t>Joint representation learning for simultaneous fall detection and injury severity classification.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view3_multitask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10728655" cy="32918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4846320"/>
            <a:ext cx="3429000" cy="141732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956048"/>
            <a:ext cx="3154680" cy="11978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50" b="1">
                <a:solidFill>
                  <a:srgbClr val="0F2942"/>
                </a:solidFill>
                <a:latin typeface="Calibri"/>
              </a:defRPr>
            </a:pPr>
            <a:r>
              <a:t>Convolutional Feature Extractor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Block 1: Conv1D (32, k=3) + BN + ReLU + MaxPool.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Block 2: Conv1D (64, k=3) + BN + ReLU + MaxPool.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Extracts localized high-frequency shock transients.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4846320"/>
            <a:ext cx="3429000" cy="141732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4956048"/>
            <a:ext cx="3154680" cy="11978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50" b="1">
                <a:solidFill>
                  <a:srgbClr val="0F2942"/>
                </a:solidFill>
                <a:latin typeface="Calibri"/>
              </a:defRPr>
            </a:pPr>
            <a:r>
              <a:t>Temporal Sequence Modeling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LSTM: 64 hidden units, return_sequences=True.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Unrolled LSTM (unroll=True) for edge TFLite compatibility.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GlobalAveragePooling1D aggregates temporal trajectory.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4846320"/>
            <a:ext cx="3413455" cy="141732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4956048"/>
            <a:ext cx="3139135" cy="11978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50" b="1">
                <a:solidFill>
                  <a:srgbClr val="0F2942"/>
                </a:solidFill>
                <a:latin typeface="Calibri"/>
              </a:defRPr>
            </a:pPr>
            <a:r>
              <a:t>Multi-Task Prediction Heads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Shared Dense trunk (32 units, ReLU) + Dropout (0.3).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Head 1: Dense(1, Sigmoid) for binary fall probability.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Head 2: Dense(2, Softmax) for Mild vs Severe classes.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Review 3 | Wearable Fall Detection &amp; Severity System | MIT Anna University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>
                <a:solidFill>
                  <a:srgbClr val="475569"/>
                </a:solidFill>
                <a:latin typeface="Calibri"/>
              </a:defRPr>
            </a:pPr>
            <a: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942"/>
                </a:solidFill>
                <a:latin typeface="Calibri"/>
              </a:defRPr>
            </a:pPr>
            <a:r>
              <a:t>Masked Severity Loss Formulation &amp; Training</a:t>
            </a:r>
          </a:p>
          <a:p>
            <a:pPr>
              <a:defRPr sz="1150">
                <a:solidFill>
                  <a:srgbClr val="475569"/>
                </a:solidFill>
                <a:latin typeface="Calibri"/>
              </a:defRPr>
            </a:pPr>
            <a:r>
              <a:t>Preventing gradient interference from non-fall windows and sensor outliers during joint optimization.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486400" cy="480060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27048"/>
            <a:ext cx="5212080" cy="45811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50" b="1">
                <a:solidFill>
                  <a:srgbClr val="0F2942"/>
                </a:solidFill>
                <a:latin typeface="Calibri"/>
              </a:defRPr>
            </a:pPr>
            <a:r>
              <a:t>Loss Formulation &amp; Gradient Masking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Challenge: 91.5% of windows are ADLs with no severity label. Sensor outliers (-1) from gyro saturation must not pollute severity weights.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Total Multi-Task Objective Function:</a:t>
            </a:r>
            <a:br/>
            <a:r>
              <a:t>  L_total = L_binary + lambda * L_severity_masked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Binary Fall Loss (L_binary):</a:t>
            </a:r>
            <a:br/>
            <a:r>
              <a:t>  Standard Binary Cross-Entropy evaluated across all training windows.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Masked Severity Loss (L_severity_masked):</a:t>
            </a:r>
            <a:br/>
            <a:r>
              <a:t>  Evaluated strictly on confident fall windows:</a:t>
            </a:r>
            <a:br/>
            <a:r>
              <a:t>  mask = (y_binary == 1) &amp; (y_severity in {0, 1})</a:t>
            </a:r>
            <a:br/>
            <a:r>
              <a:t>  L_severity_masked = sum(mask * CCE(y_sev, p_sev)) / (sum(mask) + eps)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Zero Gradient Backpropagation: ADL windows (y_bin=0) and extreme gyro outliers (y_sev=-1) contribute 0.0 loss.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Optimization: Adam (lr=1e-3), batch size 64, lambda=1.0.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Graph Acceleration: Compiled via @tf.function, reducing full training epoch time to 103.4 seconds.</a:t>
            </a:r>
          </a:p>
        </p:txBody>
      </p:sp>
      <p:pic>
        <p:nvPicPr>
          <p:cNvPr id="6" name="Picture 5" descr="cnn_lstm_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417320"/>
            <a:ext cx="4937760" cy="2926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92240" y="4526280"/>
            <a:ext cx="4937760" cy="169164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4636008"/>
            <a:ext cx="4663440" cy="1472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50" b="1">
                <a:solidFill>
                  <a:srgbClr val="0F2942"/>
                </a:solidFill>
                <a:latin typeface="Calibri"/>
              </a:defRPr>
            </a:pPr>
            <a:r>
              <a:t>Training Behavior Observations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Smooth Convergence: Loss decreases stably without divergence.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Validation Accuracy: Stabilizes above 99.4% after early epochs.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Generalization: Train and validation losses track closely.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Balanced Sampling: Applied X_train_balanced (59,907 windows) ensuring high gradient signal for minority fall class.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Review 3 | Wearable Fall Detection &amp; Severity System | MIT Anna 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>
                <a:solidFill>
                  <a:srgbClr val="475569"/>
                </a:solidFill>
                <a:latin typeface="Calibri"/>
              </a:defRPr>
            </a:pPr>
            <a: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942"/>
                </a:solidFill>
                <a:latin typeface="Calibri"/>
              </a:defRPr>
            </a:pPr>
            <a:r>
              <a:t>Multi-Task Severity Classification Results</a:t>
            </a:r>
          </a:p>
          <a:p>
            <a:pPr>
              <a:defRPr sz="1150">
                <a:solidFill>
                  <a:srgbClr val="475569"/>
                </a:solidFill>
                <a:latin typeface="Calibri"/>
              </a:defRPr>
            </a:pPr>
            <a:r>
              <a:t>Quantitative evaluation on held-out test subjects against statistical baselines and anomaly analysis.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17320"/>
          <a:ext cx="65836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731520"/>
                <a:gridCol w="731520"/>
                <a:gridCol w="73152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Classifier / Model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 Representation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Macro-F1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Mild F1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Severe F1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Severity Gain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Majority Class Baseline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None (Constant Severe Predictor)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0.3794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0.0000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0.7588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Reference Baseline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Signal Features (Peak Acc + Gyro)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0.6109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0.5966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0.6251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+0.2315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Multi-Task CNN-LSTM (Ours)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End-to-End Standardized IMU Windows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0.8660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0.8346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0.8973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+0.4866 vs Majority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3063240"/>
            <a:ext cx="5669280" cy="315468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172968"/>
            <a:ext cx="5394960" cy="2935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50" b="1">
                <a:solidFill>
                  <a:srgbClr val="0F2942"/>
                </a:solidFill>
                <a:latin typeface="Calibri"/>
              </a:defRPr>
            </a:pPr>
            <a:r>
              <a:t>Severity Classification Performance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High Test Discrimination: Severity Macro-F1 reaches 0.8660 on confident fall windows (Mild F1: 0.8346, Severe F1: 0.8973).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Test Window Confusion Matrix (n=1,176):</a:t>
            </a:r>
            <a:br/>
            <a:r>
              <a:t>  - True Mild (Cluster 0): 376 Correct, 81 Misclassified (82.3% recall)</a:t>
            </a:r>
            <a:br/>
            <a:r>
              <a:t>  - True Severe (Cluster 1): 651 Correct, 68 Misclassified (90.5% recall)</a:t>
            </a:r>
            <a:br/>
            <a:r>
              <a:t>  - Overall Severity Accuracy: 87.3% on unseen test subjects.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Recording-Level Severity: Aggregating windows per recording achieves Macro-F1 = 0.9020 (95 Mild, 175 Severe correctly classified).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Outlier Safety (Isolation Forest -1): All 24 gyro-outlier fall windows are detected as falls by the binary branch with 100% recall.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Scientific Honesty: Ground-truth severity was generated via unsupervised K-Means on signal features, so deep learning provides learned feature extraction without manual thresholds.</a:t>
            </a:r>
          </a:p>
        </p:txBody>
      </p:sp>
      <p:pic>
        <p:nvPicPr>
          <p:cNvPr id="7" name="Picture 6" descr="kmeans_severity_test_p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17320"/>
            <a:ext cx="4754880" cy="31089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675120" y="4709160"/>
            <a:ext cx="4754880" cy="150876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4818888"/>
            <a:ext cx="4480560" cy="1289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50" b="1">
                <a:solidFill>
                  <a:srgbClr val="0F2942"/>
                </a:solidFill>
                <a:latin typeface="Calibri"/>
              </a:defRPr>
            </a:pPr>
            <a:r>
              <a:t>Cluster Separation &amp; Anomaly Screening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K=2 PCA feature space shows distinct cluster separation.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Mild cluster corresponds to lower-energy knees/hands falls.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Severe cluster corresponds to high-impact backward/syncope falls.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Isolation Forest detects unusual anomalies with ~2% flag rate.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Review 3 | Wearable Fall Detection &amp; Severity System | MIT Anna University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>
                <a:solidFill>
                  <a:srgbClr val="475569"/>
                </a:solidFill>
                <a:latin typeface="Calibri"/>
              </a:defRPr>
            </a:pPr>
            <a: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942"/>
                </a:solidFill>
                <a:latin typeface="Calibri"/>
              </a:defRPr>
            </a:pPr>
            <a:r>
              <a:t>Cross-Model Benchmarking &amp; Deployment Decision</a:t>
            </a:r>
          </a:p>
          <a:p>
            <a:pPr>
              <a:defRPr sz="1150">
                <a:solidFill>
                  <a:srgbClr val="475569"/>
                </a:solidFill>
                <a:latin typeface="Calibri"/>
              </a:defRPr>
            </a:pPr>
            <a:r>
              <a:t>Evaluating candidate models under Decision D2 validation-selected thresholding rules.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17320"/>
          <a:ext cx="1024128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822960"/>
                <a:gridCol w="822960"/>
                <a:gridCol w="822960"/>
                <a:gridCol w="822960"/>
                <a:gridCol w="731520"/>
                <a:gridCol w="731520"/>
                <a:gridCol w="731520"/>
                <a:gridCol w="731520"/>
                <a:gridCol w="1097280"/>
                <a:gridCol w="1005840"/>
              </a:tblGrid>
              <a:tr h="32918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 Architecture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 Threshold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F2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FA/hr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AUROC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Parameters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Severity F1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CNN (1D Baseline)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0.20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0.9965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0.9683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0.9925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0.9802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0.9876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14.12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0.9998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33,729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CNN-LSTM (Binary Final)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0.9960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0.9606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0.9950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0.9775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0.9879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17.74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0.9998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46,817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CNN-LSTM + Severity Head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0.10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0.9935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0.9580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0.9692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0.9635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0.9669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18.47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0.9994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46,883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0.8660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FiLM (k=30, Exploratory)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0.9943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0.9693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0.9692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0.9787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0.9880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14.03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0.9998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46,945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3246120"/>
            <a:ext cx="5669280" cy="297180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355848"/>
            <a:ext cx="5394960" cy="27523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50" b="1">
                <a:solidFill>
                  <a:srgbClr val="0F2942"/>
                </a:solidFill>
                <a:latin typeface="Calibri"/>
              </a:defRPr>
            </a:pPr>
            <a:r>
              <a:t>Authoritative Deployment Gating Decision (Task P5)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Gating Protocol: Deploy the multi-task model if its test binary recall did not regress vs baseline CNN-LSTM, else deploy the binary CNN-LSTM.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Recall Trade-off Analysis:</a:t>
            </a:r>
            <a:br/>
            <a:r>
              <a:t>  - Baseline CNN-LSTM Recall: 0.9950 (only 6 missed falls out of 1,200)</a:t>
            </a:r>
            <a:br/>
            <a:r>
              <a:t>  - Multi-Task CNN-LSTM Recall: 0.9692 (37 missed falls out of 1,200)</a:t>
            </a:r>
            <a:br/>
            <a:r>
              <a:t>  - Recall Regression: True (0.0258 drop, representing 31 additional missed falls).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Clinical Safety Priority: In elderly fall monitoring, false alarms cause nuisance, but a missed fall can lead to an unassisted long-lie and fatal complications.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Conclusion: The binary CNN-LSTM remains the authoritative deployed edge model, while the multi-task head is preserved for post-detection severity staging.</a:t>
            </a:r>
          </a:p>
        </p:txBody>
      </p:sp>
      <p:pic>
        <p:nvPicPr>
          <p:cNvPr id="7" name="Picture 6" descr="cnn_lstm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3246120"/>
            <a:ext cx="4754880" cy="29718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Review 3 | Wearable Fall Detection &amp; Severity System | MIT Anna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>
                <a:solidFill>
                  <a:srgbClr val="475569"/>
                </a:solidFill>
                <a:latin typeface="Calibri"/>
              </a:defRPr>
            </a:pPr>
            <a: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942"/>
                </a:solidFill>
                <a:latin typeface="Calibri"/>
              </a:defRPr>
            </a:pPr>
            <a:r>
              <a:t>Scientific Evaluation of FiLM Personalization</a:t>
            </a:r>
          </a:p>
          <a:p>
            <a:pPr>
              <a:defRPr sz="1150">
                <a:solidFill>
                  <a:srgbClr val="475569"/>
                </a:solidFill>
                <a:latin typeface="Calibri"/>
              </a:defRPr>
            </a:pPr>
            <a:r>
              <a:t>Rigorous multi-seed benchmarking and statistical hypothesis testing of the personalization prototype.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486400" cy="480060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27048"/>
            <a:ext cx="5212080" cy="45811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50" b="1">
                <a:solidFill>
                  <a:srgbClr val="0F2942"/>
                </a:solidFill>
                <a:latin typeface="Calibri"/>
              </a:defRPr>
            </a:pPr>
            <a:r>
              <a:t>FiLM Methodology &amp; Experimental Findings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Architecture: Feature-wise Linear Modulation applied after the 2nd CNN block: h_film = gamma * h + beta.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UserEncoder: Lightweight side-network (2,352 params) trained once on simulated user profiles; per-user adaptation uses k ADL windows without gradient steps.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Calibration Sweep across k in {0, 1, 5, 10, 30} across 3 random seeds:</a:t>
            </a:r>
            <a:br/>
            <a:r>
              <a:t>  - k=0 (Identity Init): Perfectly reproduces global CNN-LSTM (AUROC=0.9998)</a:t>
            </a:r>
            <a:br/>
            <a:r>
              <a:t>  - k=1: F1 = 0.9738, F2 = 0.9840, FA/hr = 16.64</a:t>
            </a:r>
            <a:br/>
            <a:r>
              <a:t>  - k=30: F1 = 0.9787, F2 = 0.9880, FA/hr = 14.03.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Paired Wilcoxon Signed-Rank Hypothesis Test:</a:t>
            </a:r>
            <a:br/>
            <a:r>
              <a:t>  - Evaluated across n=4 held-out test subjects with falls.</a:t>
            </a:r>
            <a:br/>
            <a:r>
              <a:t>  - Test Statistic W = 0, p-value = 0.125 (&gt; 0.05 alpha threshold).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Formal Closure (Decision D4):</a:t>
            </a:r>
            <a:br/>
            <a:r>
              <a:t>  - While FiLM proves that affine modulation can reduce false alarms as k increases, the small test fall cohort prevents claiming statistically significant superiority over the global CNN-LSTM baseline.</a:t>
            </a:r>
            <a:br/>
            <a:r>
              <a:t>  - The prototype is formally closed as exploratory-inconclusive.</a:t>
            </a:r>
          </a:p>
        </p:txBody>
      </p:sp>
      <p:pic>
        <p:nvPicPr>
          <p:cNvPr id="6" name="Picture 5" descr="01_f2_vs_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417320"/>
            <a:ext cx="4937760" cy="2926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92240" y="4526280"/>
            <a:ext cx="4937760" cy="169164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4636008"/>
            <a:ext cx="4663440" cy="1472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50" b="1">
                <a:solidFill>
                  <a:srgbClr val="0F2942"/>
                </a:solidFill>
                <a:latin typeface="Calibri"/>
              </a:defRPr>
            </a:pPr>
            <a:r>
              <a:t>Statistical Inference Takeaways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Sample Size Limitation: With only 4 fall test subjects, statistical significance cannot be established at alpha=0.05.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Scientific Integrity: Accurately reporting negative or inconclusive findings prevents overclaiming unverified edge gains.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Architectural Soundness: The modular FiLM interface remains available for future multi-center studies with larger cohorts.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Review 3 | Wearable Fall Detection &amp; Severity System | MIT Anna 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>
                <a:solidFill>
                  <a:srgbClr val="475569"/>
                </a:solidFill>
                <a:latin typeface="Calibri"/>
              </a:defRPr>
            </a:pPr>
            <a: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942"/>
                </a:solidFill>
                <a:latin typeface="Calibri"/>
              </a:defRPr>
            </a:pPr>
            <a:r>
              <a:t>Edge Model Quantization &amp; Optimization (TFLite)</a:t>
            </a:r>
          </a:p>
          <a:p>
            <a:pPr>
              <a:defRPr sz="1150">
                <a:solidFill>
                  <a:srgbClr val="475569"/>
                </a:solidFill>
                <a:latin typeface="Calibri"/>
              </a:defRPr>
            </a:pPr>
            <a:r>
              <a:t>Benchmarking post-training quantization variants for edge deployment on low-power microcontrollers.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17320"/>
          <a:ext cx="10058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822960"/>
                <a:gridCol w="822960"/>
                <a:gridCol w="1005840"/>
                <a:gridCol w="1005840"/>
                <a:gridCol w="914400"/>
                <a:gridCol w="822960"/>
                <a:gridCol w="731520"/>
                <a:gridCol w="1005840"/>
                <a:gridCol w="1188720"/>
              </a:tblGrid>
              <a:tr h="32918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Quantization Variant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Size (KB)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 Ratio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 Threshold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Agreement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Recall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F2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FA/hr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Latency (ms)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Gate Decision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Float32 TFLite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235.6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1.00x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0.25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100.00%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0.9950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0.9879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17.74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0.063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Dynamic-Range (Winner)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111.0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2.12x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0.9950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0.9879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17.74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DEPLOYED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Float16 TFLite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147.8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1.59x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0.25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100.00%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0.9950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0.9879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17.74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0.062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Full-Integer INT8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136.9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1.72x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99.97%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0.9950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0.9879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17.74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0.033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review3_quantizat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246120"/>
            <a:ext cx="5669280" cy="2971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675120" y="3246120"/>
            <a:ext cx="4754880" cy="297180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12280" y="3355848"/>
            <a:ext cx="4480560" cy="27523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50" b="1">
                <a:solidFill>
                  <a:srgbClr val="0F2942"/>
                </a:solidFill>
                <a:latin typeface="Calibri"/>
              </a:defRPr>
            </a:pPr>
            <a:r>
              <a:t>Gating Protocol &amp; Variant Selection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Strict Gating Constraints:</a:t>
            </a:r>
            <a:br/>
            <a:r>
              <a:t>  - F2 drop &lt;= 0.005 vs Keras float32 on full test set.</a:t>
            </a:r>
            <a:br/>
            <a:r>
              <a:t>  - Recall drop &lt;= 0.010 vs Keras float32 on full test set.</a:t>
            </a:r>
            <a:br/>
            <a:r>
              <a:t>  - Winner selected as smallest file size passing both gates.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Dynamic-Range Selected as Winner:</a:t>
            </a:r>
            <a:br/>
            <a:r>
              <a:t>  - Exactly 0.000 drop in F2 and Recall vs Keras float.</a:t>
            </a:r>
            <a:br/>
            <a:r>
              <a:t>  - 100.0% class agreement across all 13,627 test windows.</a:t>
            </a:r>
            <a:br/>
            <a:r>
              <a:t>  - Mean absolute probability difference: 0.00003.</a:t>
            </a:r>
            <a:br/>
            <a:r>
              <a:t>  - 2.12x compression: 235.6 KB -&gt; 111.0 KB.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INT8 Representative Calibration: Full INT8 converted using 500 stratified training windows (8.5% fall, 91.5% ADL).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Single-Window CPU Latency: Measured on 1 thread over 1,000 runs after 50 warmups: median 0.026 ms, p95 0.039 ms.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Review 3 | Wearable Fall Detection &amp; Severity System | MIT Anna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>
                <a:solidFill>
                  <a:srgbClr val="475569"/>
                </a:solidFill>
                <a:latin typeface="Calibri"/>
              </a:defRPr>
            </a:pPr>
            <a: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942"/>
                </a:solidFill>
                <a:latin typeface="Calibri"/>
              </a:defRPr>
            </a:pPr>
            <a:r>
              <a:t>Microcontroller Export &amp; Hardware Suitability</a:t>
            </a:r>
          </a:p>
          <a:p>
            <a:pPr>
              <a:defRPr sz="1150">
                <a:solidFill>
                  <a:srgbClr val="475569"/>
                </a:solidFill>
                <a:latin typeface="Calibri"/>
              </a:defRPr>
            </a:pPr>
            <a:r>
              <a:t>Autonomous wearable deployment readiness on resource-constrained embedded microcontrollers.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212080" cy="480060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27048"/>
            <a:ext cx="4937760" cy="45811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50" b="1">
                <a:solidFill>
                  <a:srgbClr val="0F2942"/>
                </a:solidFill>
                <a:latin typeface="Calibri"/>
              </a:defRPr>
            </a:pPr>
            <a:r>
              <a:t>ESP32 C Byte Array Header Export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Export File: results/quantization/run_v1/model_data.h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C Symbol: const unsigned char g_model_data[] __attribute__((aligned(16)))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Exact Size: const unsigned int g_model_data_len = 113,704 bytes (111.04 KB).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Target Microcontroller: Espressif ESP32-WROOM-32 / ESP32-S3 (240 MHz dual-core Xtensa LX7, 520 KB SRAM).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SRAM Budget Analysis:</a:t>
            </a:r>
            <a:br/>
            <a:r>
              <a:t>  - Internal SRAM: 520 KB</a:t>
            </a:r>
            <a:br/>
            <a:r>
              <a:t>  - Model Footprint: 111 KB (~21.3% of available SRAM)</a:t>
            </a:r>
            <a:br/>
            <a:r>
              <a:t>  - TFLite Arena Buffer: ~48 KB</a:t>
            </a:r>
            <a:br/>
            <a:r>
              <a:t>  - Total RAM Required: ~159 KB (easily fits without external PSRAM).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Compute Budget Analysis:</a:t>
            </a:r>
            <a:br/>
            <a:r>
              <a:t>  - CPU latency on desktop: 0.026 ms</a:t>
            </a:r>
            <a:br/>
            <a:r>
              <a:t>  - Projected ESP32 execution latency: &lt;15 ms</a:t>
            </a:r>
            <a:br/>
            <a:r>
              <a:t>  - With an 800 ms evaluation stride, the microcontroller remains idle &gt;98% of the time, allowing deep sleep and multi-day battery life.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17320"/>
            <a:ext cx="5212080" cy="480060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527048"/>
            <a:ext cx="4937760" cy="45811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50" b="1">
                <a:solidFill>
                  <a:srgbClr val="0F2942"/>
                </a:solidFill>
                <a:latin typeface="Calibri"/>
              </a:defRPr>
            </a:pPr>
            <a:r>
              <a:t>Deployment Metadata &amp; Edge Autonomy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Deployment Metadata File: deployed_model_meta.json.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Stored Hyperparameters for Embedded Runtime:</a:t>
            </a:r>
            <a:br/>
            <a:r>
              <a:t>  - Input Window: 64 samples x 6 channels (3.2 seconds)</a:t>
            </a:r>
            <a:br/>
            <a:r>
              <a:t>  - Stride: 16 samples (0.8 second decision step)</a:t>
            </a:r>
            <a:br/>
            <a:r>
              <a:t>  - Sampling Frequency: 20 Hz</a:t>
            </a:r>
            <a:br/>
            <a:r>
              <a:t>  - Operating Threshold: tau = 0.25 (Decision D2)</a:t>
            </a:r>
            <a:br/>
            <a:r>
              <a:t>  - Input Quantization Scale / Zero-Point: (0.0, 0)</a:t>
            </a:r>
            <a:br/>
            <a:r>
              <a:t>  - StandardScaler Parameters: channel mean and standard deviation vector stored for on-device standardization.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Complete Edge Autonomy:</a:t>
            </a:r>
            <a:br/>
            <a:r>
              <a:t>  - Zero Cloud Dependency: All inference, sliding windowing, and alert logic execute locally on the wearable sensor.</a:t>
            </a:r>
            <a:br/>
            <a:r>
              <a:t>  - Privacy-Preserving: Motion data never leaves the device; only emergency alert notifications are transmitted.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Review 3 | Wearable Fall Detection &amp; Severity System | MIT Anna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>
                <a:solidFill>
                  <a:srgbClr val="475569"/>
                </a:solidFill>
                <a:latin typeface="Calibri"/>
              </a:defRPr>
            </a:pPr>
            <a: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942"/>
                </a:solidFill>
                <a:latin typeface="Calibri"/>
              </a:defRPr>
            </a:pPr>
            <a:r>
              <a:t>Real-Time Edge Streaming Engine Architecture</a:t>
            </a:r>
          </a:p>
          <a:p>
            <a:pPr>
              <a:defRPr sz="1150">
                <a:solidFill>
                  <a:srgbClr val="475569"/>
                </a:solidFill>
                <a:latin typeface="Calibri"/>
              </a:defRPr>
            </a:pPr>
            <a:r>
              <a:t>Circular ring buffer mechanism with multi-stage noise suppression and caregiver notification sinks.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view3_streamin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10728655" cy="29260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4526280"/>
            <a:ext cx="3429000" cy="169164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636008"/>
            <a:ext cx="3154680" cy="1472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50" b="1">
                <a:solidFill>
                  <a:srgbClr val="0F2942"/>
                </a:solidFill>
                <a:latin typeface="Calibri"/>
              </a:defRPr>
            </a:pPr>
            <a:r>
              <a:t>Ring Buffer Mechanics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Sample-by-sample ingestion at 20 Hz.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Capacity: 64 samples (3.2 s).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Warmup: Strictly returns None for t &lt; 3.2 s.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Stride: Evaluates window every 16 samples (0.8 s step latency).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4526280"/>
            <a:ext cx="3429000" cy="169164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4636008"/>
            <a:ext cx="3154680" cy="1472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50" b="1">
                <a:solidFill>
                  <a:srgbClr val="0F2942"/>
                </a:solidFill>
                <a:latin typeface="Calibri"/>
              </a:defRPr>
            </a:pPr>
            <a:r>
              <a:t>Configurable Alert Policy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Validation Threshold: tau = 0.25.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N-Consecutive Filter: Requires 1, 2, or 3 consecutive positive windows.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- 10.0 s Cooldown Refractory Period prevents duplicate alert spam.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4526280"/>
            <a:ext cx="3413455" cy="169164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4636008"/>
            <a:ext cx="3139135" cy="1472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50" b="1">
                <a:solidFill>
                  <a:srgbClr val="0F2942"/>
                </a:solidFill>
                <a:latin typeface="Calibri"/>
              </a:defRPr>
            </a:pPr>
            <a:r>
              <a:t>Notification Sink Interfaces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Abstract AlertSink interface.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ConsoleSink: Real-time terminal logging.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SimulatedCaregiverSink: In-memory timestamped dispatch log.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Integrated with Streamlit demo UI.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Review 3 | Wearable Fall Detection &amp; Severity System | MIT Anna University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>
                <a:solidFill>
                  <a:srgbClr val="475569"/>
                </a:solidFill>
                <a:latin typeface="Calibri"/>
              </a:defRPr>
            </a:pPr>
            <a: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942"/>
                </a:solidFill>
                <a:latin typeface="Calibri"/>
              </a:defRPr>
            </a:pPr>
            <a:r>
              <a:t>System Parity, Replay Validation &amp; Dashboard</a:t>
            </a:r>
          </a:p>
          <a:p>
            <a:pPr>
              <a:defRPr sz="1150">
                <a:solidFill>
                  <a:srgbClr val="475569"/>
                </a:solidFill>
                <a:latin typeface="Calibri"/>
              </a:defRPr>
            </a:pPr>
            <a:r>
              <a:t>Exact bitwise validation across test trials and interactive live caregiver monitoring dashboard.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17320"/>
          <a:ext cx="106984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011680"/>
                <a:gridCol w="1188720"/>
                <a:gridCol w="914400"/>
                <a:gridCol w="914400"/>
                <a:gridCol w="1005840"/>
                <a:gridCol w="1554480"/>
                <a:gridCol w="2103120"/>
              </a:tblGrid>
              <a:tr h="287382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Trial ID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Activity Description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Duration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Windows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Max Prob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Alert Status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Expected Behavior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SA02:D01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Walking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ADL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15.0 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0.0001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 Alerts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Clean Rejection (Pass)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SA02:D07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Standing to Sitting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ADL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15.0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0.0002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 Alerts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Clean Rejection (Pass)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SA02:D12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Stumbling / Tripping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Hard-Negative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15.0 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0.0001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 Alerts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Clean Recovery (Pass)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SA02:D15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Vertical Jumping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Hard-Negative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15.0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0.0435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 Alerts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Suppressed below tau=0.25 (Pass)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SA02:F01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Fall Forward on Knees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Mild Fall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15.0 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0.9544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 Alert (7.15s)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Immediate Dispatch (Detected)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87388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SA02:F03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Fall Backward on Buttocks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Severe Fall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15.0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0.9292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 Alert (7.15s)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Immediate Dispatch (Detected)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3611880"/>
            <a:ext cx="5212080" cy="260604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721608"/>
            <a:ext cx="4937760" cy="2386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50" b="1">
                <a:solidFill>
                  <a:srgbClr val="0F2942"/>
                </a:solidFill>
                <a:latin typeface="Calibri"/>
              </a:defRPr>
            </a:pPr>
            <a:r>
              <a:t>Bitwise Offline-Online Parity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Parity Requirement: Streaming probabilities must equal offline batch predictions down to floating point tolerances.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Verification Result: Evaluated across 3 complete test recordings (D07, D15, F01).</a:t>
            </a:r>
            <a:br/>
            <a:r>
              <a:t>  - Maximum Absolute Probability Difference: &lt;= 1.0e-6.</a:t>
            </a:r>
            <a:br/>
            <a:r>
              <a:t>  - Window count and temporal step alignment: 100% exact match.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Dynamic Jump Suppression: Jumping causes violent landing impacts (&gt;2.5g), producing a transient spike of 0.0435. Operating threshold tau=0.25 correctly prevents false alarms.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611880"/>
            <a:ext cx="5212080" cy="260604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3721608"/>
            <a:ext cx="4937760" cy="2386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50" b="1">
                <a:solidFill>
                  <a:srgbClr val="0F2942"/>
                </a:solidFill>
                <a:latin typeface="Calibri"/>
              </a:defRPr>
            </a:pPr>
            <a:r>
              <a:t>Interactive Caregiver Dashboard (app/demo.py)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Built with Streamlit for live panel demonstration.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Rolling 6-Channel Waveform Chart: Continuous 3-axis accelerometer and gyroscope displays.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Probability Timeline: Real-time probability line against horizontal threshold boundary (tau=0.25).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Status Badges: MONITORING (Green) -&gt; FALL DETECTED (Pulsing Red Alert).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Caregiver Notification Log: Timestamped emergency dispatch table.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Replay Speeds: 1x real-time, 5x, 20x, or custom IMU CSV upload.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Review 3 | Wearable Fall Detection &amp; Severity System | MIT Anna 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>
                <a:solidFill>
                  <a:srgbClr val="475569"/>
                </a:solidFill>
                <a:latin typeface="Calibri"/>
              </a:defRPr>
            </a:pPr>
            <a: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942"/>
                </a:solidFill>
                <a:latin typeface="Calibri"/>
              </a:defRPr>
            </a:pPr>
            <a:r>
              <a:t>Verification Rigor, Limitations &amp; Future Scope</a:t>
            </a:r>
          </a:p>
          <a:p>
            <a:pPr>
              <a:defRPr sz="1150">
                <a:solidFill>
                  <a:srgbClr val="475569"/>
                </a:solidFill>
                <a:latin typeface="Calibri"/>
              </a:defRPr>
            </a:pPr>
            <a:r>
              <a:t>Automated test coverage, critical scientific boundaries, and the next-phase deployment roadmap.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429000" cy="480060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27048"/>
            <a:ext cx="3154680" cy="45811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50" b="1">
                <a:solidFill>
                  <a:srgbClr val="0F2942"/>
                </a:solidFill>
                <a:latin typeface="Calibri"/>
              </a:defRPr>
            </a:pPr>
            <a:r>
              <a:t>Automated Verification Suite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- 54 out of 54 Pytest Tests Passing: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test_streaming.py (8/8):</a:t>
            </a:r>
            <a:br/>
            <a:r>
              <a:t>  - Warmup silence for t &lt; 3.2 s</a:t>
            </a:r>
            <a:br/>
            <a:r>
              <a:t>  - Offline-online parity (3 trials)</a:t>
            </a:r>
            <a:br/>
            <a:r>
              <a:t>  - Alert policy N-consecutive</a:t>
            </a:r>
            <a:br/>
            <a:r>
              <a:t>  - 10 s alert cooldown</a:t>
            </a:r>
            <a:br/>
            <a:r>
              <a:t>  - Streamlit headless AppTest.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test_quantization.py (6/6):</a:t>
            </a:r>
            <a:br/>
            <a:r>
              <a:t>  - TFLite file existence &amp; size</a:t>
            </a:r>
            <a:br/>
            <a:r>
              <a:t>  - Tensor shapes (1, 64, 6)</a:t>
            </a:r>
            <a:br/>
            <a:r>
              <a:t>  - 50-window parity vs Keras float</a:t>
            </a:r>
            <a:br/>
            <a:r>
              <a:t>  - Metadata schema &amp; C header.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test_severity_multitask.py (8/8):</a:t>
            </a:r>
            <a:br/>
            <a:r>
              <a:t>  - Gradient masking for ADLs</a:t>
            </a:r>
            <a:br/>
            <a:r>
              <a:t>  - Extreme gyro outlier masking</a:t>
            </a:r>
            <a:br/>
            <a:r>
              <a:t>  - Class-balanced weights.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test_film_personalization.py (16/16)</a:t>
            </a:r>
            <a:br/>
            <a:r>
              <a:t>  - Frozen backbone integrity</a:t>
            </a:r>
            <a:br/>
            <a:r>
              <a:t>  - Identity init at k=0.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test_sisfall_pipeline.py (16/16)</a:t>
            </a:r>
            <a:br/>
            <a:r>
              <a:t>  - Subject split &amp; windowing.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17320"/>
            <a:ext cx="3429000" cy="480060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527048"/>
            <a:ext cx="3154680" cy="45811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50" b="1">
                <a:solidFill>
                  <a:srgbClr val="0F2942"/>
                </a:solidFill>
                <a:latin typeface="Calibri"/>
              </a:defRPr>
            </a:pPr>
            <a:r>
              <a:t>Honest Limitations Disclosures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Laboratory Fall Domain Shift:</a:t>
            </a:r>
            <a:br/>
            <a:r>
              <a:t>  - SisFall falls were performed by young adult participants onto safety mattresses under controlled laboratory conditions.</a:t>
            </a:r>
            <a:br/>
            <a:r>
              <a:t>  - Real-world elderly falls involve pre-fall gait instability, different impact damping, and prolonged unassisted lying.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Small Test Fall Cohort (n=6 subjects):</a:t>
            </a:r>
            <a:br/>
            <a:r>
              <a:t>  - Only 4 test subjects had falls; 2 were ADL-only.</a:t>
            </a:r>
            <a:br/>
            <a:r>
              <a:t>  - Sample size is insufficient for formal cross-subject statistical power (Wilcoxon p=0.125).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Clustering-Derived Severity Ground Truth:</a:t>
            </a:r>
            <a:br/>
            <a:r>
              <a:t>  - Severity labels were obtained via unsupervised K-Means on signal-derived features, not hospital injury records.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Extreme Gyro Outliers (-1):</a:t>
            </a:r>
            <a:br/>
            <a:r>
              <a:t>  - Masked from severity loss due to sensor saturation; preserved in binary detection.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17320"/>
            <a:ext cx="3413455" cy="480060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80" y="1527048"/>
            <a:ext cx="3139135" cy="45811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50" b="1">
                <a:solidFill>
                  <a:srgbClr val="0F2942"/>
                </a:solidFill>
                <a:latin typeface="Calibri"/>
              </a:defRPr>
            </a:pPr>
            <a:r>
              <a:t>Future Development Roadmap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Physical ESP32 Wearable Firmware:</a:t>
            </a:r>
            <a:br/>
            <a:r>
              <a:t>  - Compile exported model_data.h with TensorFlow Lite for Microcontrollers (TFLM).</a:t>
            </a:r>
            <a:br/>
            <a:r>
              <a:t>  - Integrate with MPU-6050 / ICM-42688 IMU over I2C/SPI.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Battery &amp; Power Optimization:</a:t>
            </a:r>
            <a:br/>
            <a:r>
              <a:t>  - Implement hardware interrupts on high acceleration thresholds to wake MCU from deep sleep.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Clinical Pilot Validation:</a:t>
            </a:r>
            <a:br/>
            <a:r>
              <a:t>  - Partner with geriatric care facilities to record real-world movement and natural stumble events.</a:t>
            </a:r>
          </a:p>
          <a:p>
            <a:pPr>
              <a:lnSpc>
                <a:spcPct val="115000"/>
              </a:lnSpc>
              <a:spcAft>
                <a:spcPts val="35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- Cellular / BLE Dispatch:</a:t>
            </a:r>
            <a:br/>
            <a:r>
              <a:t>  - Connect alert sinks to LTE-M / NB-IoT modules for direct SMS and caregiver mobile push alerts.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Review 3 | Wearable Fall Detection &amp; Severity System | MIT Anna University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>
                <a:solidFill>
                  <a:srgbClr val="475569"/>
                </a:solidFill>
                <a:latin typeface="Calibri"/>
              </a:defRPr>
            </a:pPr>
            <a: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942"/>
                </a:solidFill>
                <a:latin typeface="Calibri"/>
              </a:defRPr>
            </a:pPr>
            <a:r>
              <a:t>Conclusion and Project Completion</a:t>
            </a:r>
          </a:p>
          <a:p>
            <a:pPr>
              <a:defRPr sz="1150">
                <a:solidFill>
                  <a:srgbClr val="475569"/>
                </a:solidFill>
                <a:latin typeface="Calibri"/>
              </a:defRPr>
            </a:pPr>
            <a:r>
              <a:t>Delivering a complete, validated, and quantized deep learning system for edge fall detection.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1732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2286000"/>
                <a:gridCol w="3200400"/>
                <a:gridCol w="3291840"/>
              </a:tblGrid>
              <a:tr h="3251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Milestone Component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Review 2 Baseline Status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Review 3 Delivered Outcome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Performance / Impact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Model Architecture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Binary CNN-LSTM baseline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Multi-Task CNN-LSTM (Binary + Severity)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Severity Macro-F1 = 0.8660 (87.3% accuracy)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Operating Policy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Uncalibrated 0.50 threshold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Validation-Selected tau = 0.25 (Decision D2)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Test Recall = 0.9950 (F2 = 0.9879, 6 misses / 1200)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FiLM Personalization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Early proof-of-concept prototype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Multi-seed statistical evaluation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Closed as inconclusive (p=0.125, n=4 test cohort)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Edge Quantization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Uncompressed float models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Dynamic-Range TFLite Deployment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111.0 KB size (2.12x comp), 0.026 ms CPU latency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Embedded Readiness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 firmware export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 array header exported (model_data.h)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Fits in 21% ESP32 SRAM; zero cloud dependency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Streaming Simulation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Offline batch processing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Real-time circular ring buffer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0.8 s step latency; bitwise parity (&lt;= 1e-6 diff)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Interactive Interface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Command line scripts only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Streamlit Web Caregiver Dashboard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Real-time chart streaming, alert cooldown &amp; logs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Verification Suite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Partial unit tests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54 / 54 Pytest tests passing cleanly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Zero leakage across 38 subjects, complete git sync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4526280"/>
            <a:ext cx="10728655" cy="1691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F2942"/>
                </a:solidFill>
                <a:latin typeface="Calibri"/>
              </a:defRPr>
            </a:pPr>
            <a:r>
              <a:t>THANK YOU</a:t>
            </a:r>
          </a:p>
          <a:p>
            <a:pPr algn="ctr">
              <a:lnSpc>
                <a:spcPct val="130000"/>
              </a:lnSpc>
              <a:defRPr sz="1150">
                <a:solidFill>
                  <a:srgbClr val="1E293B"/>
                </a:solidFill>
                <a:latin typeface="Calibri"/>
              </a:defRPr>
            </a:pPr>
            <a:r>
              <a:t>Wearable Fall Detection and Severity Classification System for Elderly People Using Deep Learning</a:t>
            </a:r>
            <a:br/>
            <a:r>
              <a:t>Department of Information Technology, Madras Institute of Technology, Anna University</a:t>
            </a:r>
            <a:br/>
            <a:r>
              <a:t>GitHub Repository: https://github.com/ArjunArul55/fall-detect</a:t>
            </a:r>
          </a:p>
          <a:p>
            <a:pPr algn="ctr">
              <a:defRPr sz="1200" b="1">
                <a:solidFill>
                  <a:srgbClr val="1E40AF"/>
                </a:solidFill>
                <a:latin typeface="Calibri"/>
              </a:defRPr>
            </a:pPr>
            <a:r>
              <a:t>Open for Questions and Discussion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Review 3 | Wearable Fall Detection &amp; Severity System | MIT Anna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>
                <a:solidFill>
                  <a:srgbClr val="475569"/>
                </a:solidFill>
                <a:latin typeface="Calibri"/>
              </a:defRPr>
            </a:pPr>
            <a: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